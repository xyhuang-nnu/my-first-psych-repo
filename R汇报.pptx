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311" r:id="rId3"/>
    <p:sldId id="258" r:id="rId5"/>
    <p:sldId id="16602565" r:id="rId6"/>
    <p:sldId id="16602564" r:id="rId7"/>
    <p:sldId id="16602566" r:id="rId8"/>
    <p:sldId id="16602567" r:id="rId9"/>
    <p:sldId id="16602579" r:id="rId10"/>
    <p:sldId id="16602580" r:id="rId11"/>
    <p:sldId id="397" r:id="rId12"/>
    <p:sldId id="16602578" r:id="rId13"/>
    <p:sldId id="16602582" r:id="rId14"/>
    <p:sldId id="16602583" r:id="rId15"/>
    <p:sldId id="16602584" r:id="rId16"/>
    <p:sldId id="16602585" r:id="rId17"/>
    <p:sldId id="16602586" r:id="rId18"/>
    <p:sldId id="16602587" r:id="rId19"/>
    <p:sldId id="16602588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ABAC04-904C-4E1E-B32B-EBF24DF8EBB0}">
          <p14:sldIdLst>
            <p14:sldId id="311"/>
            <p14:sldId id="258"/>
            <p14:sldId id="16602565"/>
            <p14:sldId id="16602564"/>
            <p14:sldId id="16602566"/>
            <p14:sldId id="16602567"/>
            <p14:sldId id="16602579"/>
            <p14:sldId id="16602580"/>
            <p14:sldId id="397"/>
            <p14:sldId id="16602578"/>
            <p14:sldId id="16602582"/>
            <p14:sldId id="16602583"/>
            <p14:sldId id="16602584"/>
            <p14:sldId id="16602585"/>
            <p14:sldId id="16602586"/>
            <p14:sldId id="16602587"/>
            <p14:sldId id="166025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18" userDrawn="1">
          <p15:clr>
            <a:srgbClr val="A4A3A4"/>
          </p15:clr>
        </p15:guide>
        <p15:guide id="2" pos="1926" userDrawn="1">
          <p15:clr>
            <a:srgbClr val="A4A3A4"/>
          </p15:clr>
        </p15:guide>
        <p15:guide id="3" pos="7516" userDrawn="1">
          <p15:clr>
            <a:srgbClr val="A4A3A4"/>
          </p15:clr>
        </p15:guide>
        <p15:guide id="4" pos="1400" userDrawn="1">
          <p15:clr>
            <a:srgbClr val="A4A3A4"/>
          </p15:clr>
        </p15:guide>
        <p15:guide id="5" pos="1041" userDrawn="1">
          <p15:clr>
            <a:srgbClr val="A4A3A4"/>
          </p15:clr>
        </p15:guide>
        <p15:guide id="6" pos="6120" userDrawn="1">
          <p15:clr>
            <a:srgbClr val="A4A3A4"/>
          </p15:clr>
        </p15:guide>
        <p15:guide id="7" orient="horz" pos="2268" userDrawn="1">
          <p15:clr>
            <a:srgbClr val="A4A3A4"/>
          </p15:clr>
        </p15:guide>
        <p15:guide id="8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568"/>
    <a:srgbClr val="E3EDE9"/>
    <a:srgbClr val="BAD4CD"/>
    <a:srgbClr val="9ABEAF"/>
    <a:srgbClr val="6D9186"/>
    <a:srgbClr val="6E8B74"/>
    <a:srgbClr val="EDEAEA"/>
    <a:srgbClr val="B9D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3" y="297"/>
      </p:cViewPr>
      <p:guideLst>
        <p:guide orient="horz" pos="1018"/>
        <p:guide pos="1926"/>
        <p:guide pos="7516"/>
        <p:guide pos="1400"/>
        <p:guide pos="1041"/>
        <p:guide pos="6120"/>
        <p:guide orient="horz" pos="2268"/>
        <p:guide orient="horz" pos="7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3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pitchFamily="34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宋体 CN SemiBold" panose="02020600000000000000" pitchFamily="18" charset="-122"/>
              </a:rPr>
            </a:fld>
            <a:endParaRPr lang="zh-CN" altLang="en-US">
              <a:ea typeface="思源宋体 CN SemiBold" panose="02020600000000000000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pitchFamily="34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宋体 CN SemiBold" panose="02020600000000000000" pitchFamily="18" charset="-122"/>
              </a:rPr>
            </a:fld>
            <a:endParaRPr lang="zh-CN" altLang="en-US">
              <a:ea typeface="思源宋体 CN SemiBold" panose="02020600000000000000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Light" panose="020B0300000000000000" pitchFamily="34" charset="-122"/>
                <a:ea typeface="思源宋体 CN SemiBold" panose="02020600000000000000" pitchFamily="18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Light" panose="020B0300000000000000" pitchFamily="34" charset="-122"/>
                <a:ea typeface="思源宋体 CN SemiBold" panose="02020600000000000000" pitchFamily="18" charset="-122"/>
                <a:cs typeface="思源黑体 CN Medium" panose="020B0600000000000000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Light" panose="020B0300000000000000" pitchFamily="34" charset="-122"/>
                <a:ea typeface="思源宋体 CN SemiBold" panose="02020600000000000000" pitchFamily="18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Light" panose="020B0300000000000000" pitchFamily="34" charset="-122"/>
                <a:ea typeface="思源宋体 CN SemiBold" panose="02020600000000000000" pitchFamily="18" charset="-122"/>
                <a:cs typeface="思源黑体 CN Medium" panose="020B0600000000000000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宋体 CN SemiBold" panose="02020600000000000000" pitchFamily="18" charset="-122"/>
        <a:cs typeface="思源黑体 CN Medium" panose="020B06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宋体 CN SemiBold" panose="02020600000000000000" pitchFamily="18" charset="-122"/>
        <a:cs typeface="思源黑体 CN Medium" panose="020B06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宋体 CN SemiBold" panose="02020600000000000000" pitchFamily="18" charset="-122"/>
        <a:cs typeface="思源黑体 CN Medium" panose="020B06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宋体 CN SemiBold" panose="02020600000000000000" pitchFamily="18" charset="-122"/>
        <a:cs typeface="思源黑体 CN Medium" panose="020B06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pitchFamily="34" charset="-122"/>
        <a:ea typeface="思源宋体 CN SemiBold" panose="02020600000000000000" pitchFamily="18" charset="-122"/>
        <a:cs typeface="思源黑体 CN Medium" panose="020B06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名词翻译的时候要看看知网有没有常用的中文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研究背景。霸凌是一个全球性的公共健康问题。数据显示，大约三分之一的青少年都曾经历过不同形式的霸凌。这种经历不仅会导致短期的心理创伤，如焦虑和抑郁，更会对个体的身心健康产生长期的负面影响，甚至延续到成年期。因此，理解霸凌如何影响我们的大脑，对于预防和干预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FF648C86-D3AB-4935-B49F-23E5A2BB46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13C600D8-2530-4CFA-B210-8260060C26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.jpe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35" y="2078355"/>
            <a:ext cx="12191365" cy="2992755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思源黑体 CN Medium" panose="020B06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9271" y="171450"/>
            <a:ext cx="11813458" cy="6515100"/>
          </a:xfrm>
          <a:prstGeom prst="rect">
            <a:avLst/>
          </a:prstGeom>
          <a:noFill/>
          <a:ln w="25400">
            <a:solidFill>
              <a:srgbClr val="4975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51681" y="5229851"/>
            <a:ext cx="293243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497568"/>
                </a:solidFill>
                <a:latin typeface="Times New Roman" panose="02020603050405020304" pitchFamily="18" charset="0"/>
                <a:ea typeface="思源宋体 CN SemiBold" panose="02020600000000000000" pitchFamily="18" charset="-122"/>
                <a:cs typeface="思源黑体 CN Light" panose="020B0300000000000000" pitchFamily="34" charset="-122"/>
              </a:rPr>
              <a:t>汇报人：黄欣悦</a:t>
            </a:r>
            <a:r>
              <a:rPr lang="en-US" altLang="zh-CN" sz="2400" b="1" dirty="0">
                <a:solidFill>
                  <a:srgbClr val="497568"/>
                </a:solidFill>
                <a:latin typeface="Times New Roman" panose="02020603050405020304" pitchFamily="18" charset="0"/>
                <a:ea typeface="思源宋体 CN SemiBold" panose="02020600000000000000" pitchFamily="18" charset="-122"/>
                <a:cs typeface="思源黑体 CN Light" panose="020B0300000000000000" pitchFamily="34" charset="-122"/>
              </a:rPr>
              <a:t>  </a:t>
            </a:r>
            <a:endParaRPr lang="en-US" altLang="zh-CN" sz="2400" b="1" dirty="0">
              <a:solidFill>
                <a:srgbClr val="497568"/>
              </a:solidFill>
              <a:latin typeface="Times New Roman" panose="02020603050405020304" pitchFamily="18" charset="0"/>
              <a:ea typeface="思源宋体 CN SemiBold" panose="02020600000000000000" pitchFamily="18" charset="-122"/>
              <a:cs typeface="思源黑体 CN Light" panose="020B03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497568"/>
                </a:solidFill>
                <a:latin typeface="Times New Roman" panose="02020603050405020304" pitchFamily="18" charset="0"/>
                <a:ea typeface="思源宋体 CN SemiBold" panose="02020600000000000000" pitchFamily="18" charset="-122"/>
                <a:cs typeface="思源黑体 CN Light" panose="020B0300000000000000" pitchFamily="34" charset="-122"/>
              </a:rPr>
              <a:t>汇报时间：</a:t>
            </a:r>
            <a:r>
              <a:rPr lang="en-US" altLang="zh-CN" sz="2400" b="1" dirty="0">
                <a:solidFill>
                  <a:srgbClr val="497568"/>
                </a:solidFill>
                <a:latin typeface="Times New Roman" panose="02020603050405020304" pitchFamily="18" charset="0"/>
                <a:ea typeface="思源宋体 CN SemiBold" panose="02020600000000000000" pitchFamily="18" charset="-122"/>
                <a:cs typeface="思源黑体 CN Light" panose="020B0300000000000000" pitchFamily="34" charset="-122"/>
              </a:rPr>
              <a:t>2026.6.18</a:t>
            </a:r>
            <a:endParaRPr lang="en-US" altLang="zh-CN" sz="2400" b="1" dirty="0">
              <a:solidFill>
                <a:srgbClr val="497568"/>
              </a:solidFill>
              <a:latin typeface="Times New Roman" panose="02020603050405020304" pitchFamily="18" charset="0"/>
              <a:ea typeface="思源宋体 CN SemiBold" panose="02020600000000000000" pitchFamily="18" charset="-122"/>
              <a:cs typeface="思源黑体 CN Light" panose="020B0300000000000000" pitchFamily="34" charset="-122"/>
            </a:endParaRPr>
          </a:p>
        </p:txBody>
      </p:sp>
      <p:pic>
        <p:nvPicPr>
          <p:cNvPr id="6" name="图片 5" descr="校徽+南京师范大学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71034" y="-219075"/>
            <a:ext cx="3249295" cy="2297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4965" y="2937510"/>
            <a:ext cx="11325860" cy="17735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a typeface="思源宋体 CN SemiBold" panose="02020600000000000000" pitchFamily="18" charset="-122"/>
              </a:rPr>
              <a:t>对</a:t>
            </a:r>
            <a:r>
              <a:rPr lang="en-US" altLang="zh-CN" sz="3200" b="1" dirty="0">
                <a:solidFill>
                  <a:schemeClr val="bg1"/>
                </a:solidFill>
                <a:ea typeface="思源宋体 CN SemiBold" panose="02020600000000000000" pitchFamily="18" charset="-122"/>
              </a:rPr>
              <a:t>Lin, Saunders, Friese, Evans, and Inzlicht (2020)</a:t>
            </a:r>
            <a:r>
              <a:rPr lang="zh-CN" altLang="en-US" sz="3200" b="1" dirty="0">
                <a:solidFill>
                  <a:schemeClr val="bg1"/>
                </a:solidFill>
                <a:ea typeface="思源宋体 CN SemiBold" panose="02020600000000000000" pitchFamily="18" charset="-122"/>
              </a:rPr>
              <a:t>研究结果</a:t>
            </a:r>
            <a:endParaRPr lang="zh-CN" altLang="en-US" sz="3200" b="1" dirty="0">
              <a:solidFill>
                <a:schemeClr val="bg1"/>
              </a:solidFill>
              <a:ea typeface="思源宋体 CN SemiBold" panose="02020600000000000000" pitchFamily="18" charset="-122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ea typeface="思源宋体 CN SemiBold" panose="02020600000000000000" pitchFamily="18" charset="-122"/>
              </a:rPr>
              <a:t>的计算可复现性检验</a:t>
            </a:r>
            <a:endParaRPr lang="zh-CN" altLang="en-US" sz="3200" b="1" dirty="0">
              <a:solidFill>
                <a:schemeClr val="bg1"/>
              </a:solidFill>
              <a:ea typeface="思源宋体 CN SemiBold" panose="02020600000000000000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6254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470025" y="217170"/>
            <a:ext cx="4439285" cy="4660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文献基本信息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18" name="组合 17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4" name="图片 3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pic>
        <p:nvPicPr>
          <p:cNvPr id="40" name="图片 39" descr="IMG_11719"/>
          <p:cNvPicPr/>
          <p:nvPr/>
        </p:nvPicPr>
        <p:blipFill>
          <a:blip r:embed="rId2"/>
          <a:stretch>
            <a:fillRect/>
          </a:stretch>
        </p:blipFill>
        <p:spPr>
          <a:xfrm>
            <a:off x="14678025" y="2320925"/>
            <a:ext cx="3240000" cy="2520000"/>
          </a:xfrm>
          <a:prstGeom prst="rect">
            <a:avLst/>
          </a:prstGeom>
        </p:spPr>
      </p:pic>
      <p:pic>
        <p:nvPicPr>
          <p:cNvPr id="41" name="图片 40" descr="IMG_11721"/>
          <p:cNvPicPr/>
          <p:nvPr/>
        </p:nvPicPr>
        <p:blipFill>
          <a:blip r:embed="rId3"/>
          <a:stretch>
            <a:fillRect/>
          </a:stretch>
        </p:blipFill>
        <p:spPr>
          <a:xfrm>
            <a:off x="17917795" y="2320925"/>
            <a:ext cx="3240000" cy="252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4375" y="1414145"/>
            <a:ext cx="1212215" cy="343535"/>
          </a:xfrm>
          <a:prstGeom prst="rect">
            <a:avLst/>
          </a:prstGeom>
          <a:solidFill>
            <a:srgbClr val="497568"/>
          </a:solidFill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发表期刊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2605" y="1915795"/>
            <a:ext cx="1596390" cy="690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i="1">
                <a:solidFill>
                  <a:schemeClr val="accent6">
                    <a:lumMod val="50000"/>
                  </a:schemeClr>
                </a:solidFill>
              </a:rPr>
              <a:t>Psychological Science</a:t>
            </a:r>
            <a:endParaRPr lang="en-US" altLang="zh-CN" i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76805" y="1414145"/>
            <a:ext cx="1212215" cy="343535"/>
          </a:xfrm>
          <a:prstGeom prst="rect">
            <a:avLst/>
          </a:prstGeom>
          <a:solidFill>
            <a:srgbClr val="497568"/>
          </a:solidFill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发表时间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18995" y="2054860"/>
            <a:ext cx="165735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accent6">
                    <a:lumMod val="50000"/>
                  </a:schemeClr>
                </a:solidFill>
              </a:rPr>
              <a:t>2020</a:t>
            </a:r>
            <a:endParaRPr lang="en-US" altLang="zh-CN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205990" y="1435735"/>
            <a:ext cx="0" cy="993775"/>
          </a:xfrm>
          <a:prstGeom prst="line">
            <a:avLst/>
          </a:prstGeom>
          <a:ln w="12700" cmpd="sng"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440000" scaled="0"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759835" y="1414145"/>
            <a:ext cx="0" cy="993775"/>
          </a:xfrm>
          <a:prstGeom prst="line">
            <a:avLst/>
          </a:prstGeom>
          <a:ln w="12700" cmpd="sng"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440000" scaled="0"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930650" y="1414145"/>
            <a:ext cx="1212215" cy="343535"/>
          </a:xfrm>
          <a:prstGeom prst="rect">
            <a:avLst/>
          </a:prstGeom>
          <a:solidFill>
            <a:srgbClr val="497568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分区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06545" y="2054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50000"/>
                  </a:schemeClr>
                </a:solidFill>
              </a:rPr>
              <a:t>JCR Q1</a:t>
            </a:r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5313680" y="1414145"/>
            <a:ext cx="0" cy="993775"/>
          </a:xfrm>
          <a:prstGeom prst="line">
            <a:avLst/>
          </a:prstGeom>
          <a:ln w="12700" cmpd="sng"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4440000" scaled="0"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484495" y="1414145"/>
            <a:ext cx="1212215" cy="343535"/>
          </a:xfrm>
          <a:prstGeom prst="rect">
            <a:avLst/>
          </a:prstGeom>
          <a:solidFill>
            <a:srgbClr val="497568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影响因子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909310" y="2039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>
                    <a:lumMod val="50000"/>
                  </a:schemeClr>
                </a:solidFill>
              </a:rPr>
              <a:t>5.1</a:t>
            </a:r>
            <a:endParaRPr lang="en-US" altLang="zh-CN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498475" y="3031490"/>
            <a:ext cx="6576060" cy="0"/>
          </a:xfrm>
          <a:prstGeom prst="line">
            <a:avLst/>
          </a:prstGeom>
          <a:ln w="88900">
            <a:solidFill>
              <a:schemeClr val="accent6">
                <a:lumMod val="50000"/>
              </a:schemeClr>
            </a:soli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22605" y="3246120"/>
            <a:ext cx="6338570" cy="4238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i="1"/>
              <a:t>研究主题</a:t>
            </a:r>
            <a:endParaRPr lang="zh-CN" altLang="en-US" sz="2400" b="1" i="1"/>
          </a:p>
          <a:p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该研究聚焦自我损耗效应背后的认知加工机制争议，采用四项预注册被试内实验范式，结合漂移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- 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扩散模型与贝叶斯统计分析，系统考察高强度认知努力对个体后续决策加工的影响，区分其对信息加工速度与反应谨慎性两条认知通路的差异化作用，重点阐明心理疲惫带来任务脱离动机而非抑制控制受损的核心机制，并探讨主观努力疲惫体验与大脑决策参数的关联，以及认知损耗效应背后稳定的行为规律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850" y="1414145"/>
            <a:ext cx="3657600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4197">
            <a:off x="1790704" y="895350"/>
            <a:ext cx="10401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9756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788795" y="254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200" b="1" i="0" u="none" strike="noStrike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  <a:sym typeface="Noto Serif SC" panose="02020200000000000000" charset="-122"/>
              </a:rPr>
              <a:t>研究背景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1925300" y="0"/>
            <a:ext cx="266700" cy="901700"/>
          </a:xfrm>
          <a:prstGeom prst="roundRect">
            <a:avLst>
              <a:gd name="adj" fmla="val 0"/>
            </a:avLst>
          </a:prstGeom>
          <a:solidFill>
            <a:srgbClr val="49756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4230" y="363220"/>
            <a:ext cx="698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霸凌 — 不容忽视的公共健康问题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"/>
            </p:custDataLst>
          </p:nvPr>
        </p:nvSpPr>
        <p:spPr>
          <a:xfrm>
            <a:off x="1386205" y="1577340"/>
            <a:ext cx="2921000" cy="4318000"/>
          </a:xfrm>
          <a:prstGeom prst="roundRect">
            <a:avLst>
              <a:gd name="adj" fmla="val 4347"/>
            </a:avLst>
          </a:prstGeom>
          <a:solidFill>
            <a:srgbClr val="F9FAFB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1386205" y="1577340"/>
            <a:ext cx="2921000" cy="762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25400" cap="flat" cmpd="sng">
            <a:solidFill>
              <a:schemeClr val="bg1"/>
            </a:solidFill>
            <a:prstDash val="solid"/>
            <a:round/>
          </a:ln>
          <a:scene3d>
            <a:camera prst="orthographicFront"/>
            <a:lightRig rig="threePt" dir="t"/>
          </a:scene3d>
          <a:sp3d contourW="12700"/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3"/>
            </p:custDataLst>
          </p:nvPr>
        </p:nvSpPr>
        <p:spPr>
          <a:xfrm>
            <a:off x="1513205" y="195834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01 </a:t>
            </a:r>
            <a:r>
              <a:rPr lang="zh-CN" altLang="en-US" sz="2400" b="0" i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现有问题</a:t>
            </a:r>
            <a:endParaRPr lang="en-US" altLang="zh-CN" sz="2400" b="0" i="0" u="none" strike="noStrike">
              <a:solidFill>
                <a:schemeClr val="accent6">
                  <a:lumMod val="60000"/>
                  <a:lumOff val="4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1576705" y="2974340"/>
            <a:ext cx="254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经典自我损耗理论认为，高强度自控行为会消耗资源，削弱后续抑制控制表现。早期实验与元分析得到中等效应量。但伴随开放科学与可重复性研究发展，多项大样本预注册重复实验、校正发表偏倚的元分析均无法稳定复现该效应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5"/>
            </p:custDataLst>
          </p:nvPr>
        </p:nvSpPr>
        <p:spPr>
          <a:xfrm>
            <a:off x="4497705" y="1577340"/>
            <a:ext cx="2921000" cy="4318000"/>
          </a:xfrm>
          <a:prstGeom prst="roundRect">
            <a:avLst>
              <a:gd name="adj" fmla="val 434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6"/>
            </p:custDataLst>
          </p:nvPr>
        </p:nvSpPr>
        <p:spPr>
          <a:xfrm>
            <a:off x="4497705" y="1577340"/>
            <a:ext cx="2921000" cy="76200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7"/>
            </p:custDataLst>
          </p:nvPr>
        </p:nvSpPr>
        <p:spPr>
          <a:xfrm>
            <a:off x="4624705" y="195834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02 </a:t>
            </a:r>
            <a:r>
              <a:rPr lang="zh-CN" altLang="en-US" sz="2400" b="0" i="0" u="none" strike="noStrike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方法局限</a:t>
            </a:r>
            <a:endParaRPr lang="zh-CN" altLang="en-US" sz="2400" b="0" i="0" u="none" strike="noStrike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8"/>
            </p:custDataLst>
          </p:nvPr>
        </p:nvSpPr>
        <p:spPr>
          <a:xfrm>
            <a:off x="4688205" y="2974340"/>
            <a:ext cx="254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传统研究多选用统计效力较弱的被试间范式，经典实验任务也无法稳定诱发高强度主观疲惫与努力体验；同时过往仅依靠反应时、正确率等表层行为指标，不能分离认知加工深层过程，无法区分认知努力究竟是损伤信息加工能力，还是单纯改变个体决策谨慎标准。</a:t>
            </a:r>
            <a:endParaRPr lang="zh-CN" altLang="en-US" sz="1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9"/>
            </p:custDataLst>
          </p:nvPr>
        </p:nvSpPr>
        <p:spPr>
          <a:xfrm>
            <a:off x="7609205" y="1577340"/>
            <a:ext cx="2921000" cy="4318000"/>
          </a:xfrm>
          <a:prstGeom prst="roundRect">
            <a:avLst>
              <a:gd name="adj" fmla="val 434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0"/>
            </p:custDataLst>
          </p:nvPr>
        </p:nvSpPr>
        <p:spPr>
          <a:xfrm>
            <a:off x="7609205" y="1577340"/>
            <a:ext cx="2921000" cy="76200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11"/>
            </p:custDataLst>
          </p:nvPr>
        </p:nvSpPr>
        <p:spPr>
          <a:xfrm>
            <a:off x="7736205" y="195834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03 </a:t>
            </a:r>
            <a:r>
              <a:rPr lang="zh-CN" altLang="en-US" sz="2400" b="0" i="0" u="none" strike="noStrike">
                <a:solidFill>
                  <a:schemeClr val="accent6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现实需求</a:t>
            </a:r>
            <a:endParaRPr lang="zh-CN" altLang="en-US" sz="2400" b="0" i="0" u="none" strike="noStrike">
              <a:solidFill>
                <a:schemeClr val="accent6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12"/>
            </p:custDataLst>
          </p:nvPr>
        </p:nvSpPr>
        <p:spPr>
          <a:xfrm>
            <a:off x="7799705" y="2974340"/>
            <a:ext cx="254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600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日常脑力耗竭后易冲动懈怠的现实体验，与实验室微弱甚至无损耗效应的结论相悖。针对领域理论分歧、方法短板与现实脱节问题，本研究创设自适应认知任务，结合被试内设计、漂移</a:t>
            </a:r>
            <a:r>
              <a:rPr lang="en-US" altLang="zh-CN" sz="1600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</a:t>
            </a:r>
            <a:r>
              <a:rPr lang="zh-CN" altLang="en-US" sz="1600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扩散模型与贝叶斯分析，探究认知努力影响后续行为的内在机制。</a:t>
            </a:r>
            <a:endParaRPr lang="zh-CN" altLang="en-US" sz="1600">
              <a:solidFill>
                <a:srgbClr val="37415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26" name="组合 25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30" name="图片 29" descr="校徽+南京师范大学"/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6254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651635" y="316230"/>
            <a:ext cx="7481570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研究背景</a:t>
            </a:r>
            <a:r>
              <a:rPr lang="en-US" altLang="zh-CN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研究问题与假设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2437" y="1728000"/>
            <a:ext cx="15589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研究背景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18" name="组合 17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4" name="图片 3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14" name="AutoShape 14"/>
          <p:cNvSpPr/>
          <p:nvPr/>
        </p:nvSpPr>
        <p:spPr>
          <a:xfrm>
            <a:off x="1859915" y="1524000"/>
            <a:ext cx="3048000" cy="4572000"/>
          </a:xfrm>
          <a:prstGeom prst="roundRect">
            <a:avLst>
              <a:gd name="adj" fmla="val 3333"/>
            </a:avLst>
          </a:prstGeom>
          <a:solidFill>
            <a:srgbClr val="F8FBFA">
              <a:alpha val="100000"/>
            </a:srgbClr>
          </a:solidFill>
          <a:ln w="25400" cap="flat" cmpd="sng">
            <a:solidFill>
              <a:srgbClr val="497568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2367915" y="1771015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97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核心研究问题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50415" y="2563495"/>
            <a:ext cx="2667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60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Q1:</a:t>
            </a:r>
            <a:r>
              <a:rPr lang="zh-CN" altLang="en-US" sz="1600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高负荷认知努力能否稳定诱发主观疲惫、努力等损耗体验？</a:t>
            </a:r>
            <a:endParaRPr lang="zh-CN" altLang="en-US" sz="1600">
              <a:solidFill>
                <a:srgbClr val="37415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buClrTx/>
              <a:buSzTx/>
              <a:buFontTx/>
              <a:defRPr/>
            </a:pPr>
            <a:r>
              <a:rPr lang="en-US" sz="160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Q2: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认知努力削弱后续行为表现，是损伤信息加工速度，还是降低反应谨慎性？</a:t>
            </a:r>
            <a:endParaRPr lang="zh-CN" altLang="en-US" sz="1600" b="0" i="0" u="none" strike="noStrike">
              <a:solidFill>
                <a:srgbClr val="37415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buClrTx/>
              <a:buSzTx/>
              <a:buFontTx/>
              <a:defRPr/>
            </a:pPr>
            <a:r>
              <a:rPr lang="en-US" sz="160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Q3:</a:t>
            </a:r>
            <a:r>
              <a:rPr lang="zh-CN" altLang="en-US" sz="1600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主观疲惫感受与个体决策加工参数存在何种关联？</a:t>
            </a:r>
            <a:endParaRPr lang="en-US" sz="1600" b="0" i="0" u="none" strike="noStrike">
              <a:solidFill>
                <a:srgbClr val="37415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Noto Sans SC" panose="020B0200000000000000" charset="-122"/>
            </a:endParaRPr>
          </a:p>
        </p:txBody>
      </p:sp>
      <p:sp>
        <p:nvSpPr>
          <p:cNvPr id="6" name="AutoShape 18"/>
          <p:cNvSpPr/>
          <p:nvPr/>
        </p:nvSpPr>
        <p:spPr>
          <a:xfrm>
            <a:off x="7167880" y="1524000"/>
            <a:ext cx="3048000" cy="4572000"/>
          </a:xfrm>
          <a:prstGeom prst="roundRect">
            <a:avLst>
              <a:gd name="adj" fmla="val 3333"/>
            </a:avLst>
          </a:prstGeom>
          <a:solidFill>
            <a:srgbClr val="F8FBFA">
              <a:alpha val="100000"/>
            </a:srgbClr>
          </a:solidFill>
          <a:ln w="25400" cap="flat" cmpd="sng">
            <a:solidFill>
              <a:srgbClr val="497568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358380" y="2667000"/>
            <a:ext cx="2667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spcBef>
                <a:spcPts val="1000"/>
              </a:spcBef>
              <a:buClrTx/>
              <a:buSzTx/>
              <a:buFontTx/>
              <a:defRPr/>
            </a:pPr>
            <a:r>
              <a:rPr lang="en-US" sz="160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H1</a:t>
            </a:r>
            <a:r>
              <a:rPr lang="zh-CN" altLang="en-US" sz="160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操纵检验假设：高需求认知任务相比低需求任务，会显著提升主观努力、疲惫、挫败感；</a:t>
            </a:r>
            <a:endParaRPr lang="zh-CN" altLang="en-US" sz="1600" i="0" u="none" strike="noStrike">
              <a:solidFill>
                <a:srgbClr val="37415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  <a:buClrTx/>
              <a:buSzTx/>
              <a:buFontTx/>
              <a:defRPr/>
            </a:pPr>
            <a:r>
              <a:rPr lang="en-US" sz="1600" i="0" u="none" strike="noStrike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H2</a:t>
            </a:r>
            <a:r>
              <a:rPr lang="zh-CN" altLang="en-US" sz="1600">
                <a:solidFill>
                  <a:srgbClr val="37415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Noto Sans SC" panose="020B0200000000000000" charset="-122"/>
              </a:rPr>
              <a:t>核心机制假设：高认知努力会降低漂移扩散模型边界参数（反应谨慎性），同时降低漂移率（信息加工速度）；</a:t>
            </a:r>
            <a:endParaRPr lang="en-US" sz="1600" b="0" i="0" u="none" strike="noStrike">
              <a:solidFill>
                <a:srgbClr val="37415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Noto Sans SC" panose="020B02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97775" y="1727835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>
                <a:solidFill>
                  <a:srgbClr val="497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研究假设</a:t>
            </a:r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19" name="文本框 18"/>
          <p:cNvSpPr txBox="1"/>
          <p:nvPr/>
        </p:nvSpPr>
        <p:spPr>
          <a:xfrm>
            <a:off x="669290" y="1125220"/>
            <a:ext cx="1116965" cy="514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49756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ea"/>
              </a:rPr>
              <a:t>被试</a:t>
            </a:r>
            <a:endParaRPr lang="zh-CN" altLang="en-US" sz="2200" b="1" dirty="0">
              <a:solidFill>
                <a:srgbClr val="49756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9554" y="3256752"/>
            <a:ext cx="5612765" cy="476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497568"/>
                </a:solidFill>
                <a:ea typeface="思源黑体 CN Medium" panose="020B0600000000000000" pitchFamily="34" charset="-122"/>
                <a:sym typeface="+mn-ea"/>
              </a:rPr>
              <a:t>实验材料</a:t>
            </a:r>
            <a:endParaRPr lang="zh-CN" altLang="en-US" sz="2200" b="1" dirty="0">
              <a:solidFill>
                <a:srgbClr val="497568"/>
              </a:solidFill>
              <a:ea typeface="思源黑体 CN Medium" panose="020B0600000000000000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86255" y="180975"/>
            <a:ext cx="9018270" cy="718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研究设计</a:t>
            </a:r>
            <a:r>
              <a:rPr lang="en-US" altLang="zh-CN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被试招募及实验材料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65" y="1082040"/>
            <a:ext cx="4945380" cy="21748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3845" y="3733165"/>
            <a:ext cx="11689715" cy="293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任务操纵材料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低需求：</a:t>
            </a:r>
            <a:r>
              <a:rPr lang="en-US" altLang="zh-CN"/>
              <a:t>5 </a:t>
            </a:r>
            <a:r>
              <a:rPr lang="zh-CN" altLang="en-US"/>
              <a:t>分钟野生动物视频；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高需求：自适应符号计数任务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zh-CN"/>
              <a:t>                </a:t>
            </a:r>
            <a:r>
              <a:rPr lang="zh-CN" altLang="en-US"/>
              <a:t>刺激：连续呈现大小不一的黑色小方块，单轮试次共</a:t>
            </a:r>
            <a:r>
              <a:rPr lang="en-US" altLang="zh-CN"/>
              <a:t> 11~17 </a:t>
            </a:r>
            <a:r>
              <a:rPr lang="zh-CN" altLang="en-US"/>
              <a:t>个方块；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    </a:t>
            </a:r>
            <a:r>
              <a:rPr lang="zh-CN" altLang="en-US"/>
              <a:t>规则：被试实时记录大小方块数量、方块切换频次；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    </a:t>
            </a:r>
            <a:r>
              <a:rPr lang="zh-CN" altLang="en-US"/>
              <a:t>动态调节：依据作答正误实时调整难度（方块数量、切换频率、呈现时长），保证全程高认知负荷；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    </a:t>
            </a:r>
            <a:r>
              <a:rPr lang="zh-CN" altLang="en-US"/>
              <a:t>时长：四项实验时长不同（</a:t>
            </a:r>
            <a:r>
              <a:rPr lang="en-US" altLang="zh-CN"/>
              <a:t>20min / 15min / 5min / 10min</a:t>
            </a:r>
            <a:r>
              <a:rPr lang="zh-CN" altLang="en-US"/>
              <a:t>）。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主观测评工具：</a:t>
            </a:r>
            <a:r>
              <a:rPr lang="en-US" altLang="zh-CN"/>
              <a:t>5 </a:t>
            </a:r>
            <a:r>
              <a:rPr lang="zh-CN" altLang="en-US"/>
              <a:t>项</a:t>
            </a:r>
            <a:r>
              <a:rPr lang="en-US" altLang="zh-CN"/>
              <a:t> 7 </a:t>
            </a:r>
            <a:r>
              <a:rPr lang="zh-CN" altLang="en-US"/>
              <a:t>点滑动量表，测量心理负荷、努力程度、挫败感、无聊感、疲惫感，用于操纵有效性检验。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Stroop </a:t>
            </a:r>
            <a:r>
              <a:rPr lang="zh-CN" altLang="en-US"/>
              <a:t>色词任务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zh-CN" altLang="en-US"/>
              <a:t>使用红</a:t>
            </a:r>
            <a:r>
              <a:rPr lang="en-US" altLang="zh-CN"/>
              <a:t> / </a:t>
            </a:r>
            <a:r>
              <a:rPr lang="zh-CN" altLang="en-US"/>
              <a:t>蓝</a:t>
            </a:r>
            <a:r>
              <a:rPr lang="en-US" altLang="zh-CN"/>
              <a:t> / </a:t>
            </a:r>
            <a:r>
              <a:rPr lang="zh-CN" altLang="en-US"/>
              <a:t>黄颜色词，包含一致、不一致两类试次；共</a:t>
            </a:r>
            <a:r>
              <a:rPr lang="en-US" altLang="zh-CN"/>
              <a:t> 180 </a:t>
            </a:r>
            <a:r>
              <a:rPr lang="zh-CN" altLang="en-US"/>
              <a:t>个正式试次</a:t>
            </a:r>
            <a:r>
              <a:rPr lang="en-US" altLang="zh-CN"/>
              <a:t> + 12 </a:t>
            </a:r>
            <a:r>
              <a:rPr lang="zh-CN" altLang="en-US"/>
              <a:t>个练习试次，刺激最长呈现</a:t>
            </a:r>
            <a:r>
              <a:rPr lang="en-US" altLang="zh-CN"/>
              <a:t> 2000ms</a:t>
            </a:r>
            <a:r>
              <a:rPr lang="zh-CN" altLang="en-US"/>
              <a:t>，固定按键对应不同颜色。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6254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696720" y="180975"/>
            <a:ext cx="9018270" cy="718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实验流程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18" name="组合 17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4" name="图片 3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1130300" y="1301750"/>
            <a:ext cx="9931400" cy="2303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本研究采用被试内设计，每名被试分两个阶段完成实验，两次实验间隔约</a:t>
            </a:r>
            <a:r>
              <a:rPr lang="en-US" altLang="zh-CN" b="1" dirty="0"/>
              <a:t> 1 </a:t>
            </a:r>
            <a:r>
              <a:rPr lang="zh-CN" altLang="en-US" b="1" dirty="0"/>
              <a:t>周，平衡任务先后顺序。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第一阶段（单次实验全程）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①</a:t>
            </a:r>
            <a:r>
              <a:rPr lang="en-US" altLang="zh-CN" dirty="0"/>
              <a:t> </a:t>
            </a:r>
            <a:r>
              <a:rPr lang="zh-CN" altLang="en-US" dirty="0"/>
              <a:t>开展操纵任务：随机完成低需求视频任务</a:t>
            </a:r>
            <a:r>
              <a:rPr lang="en-US" altLang="zh-CN" dirty="0"/>
              <a:t> / </a:t>
            </a:r>
            <a:r>
              <a:rPr lang="zh-CN" altLang="en-US" dirty="0"/>
              <a:t>高需求符号计数任务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②</a:t>
            </a:r>
            <a:r>
              <a:rPr lang="en-US" altLang="zh-CN" dirty="0"/>
              <a:t> </a:t>
            </a:r>
            <a:r>
              <a:rPr lang="zh-CN" altLang="en-US" dirty="0"/>
              <a:t>操纵检验：填写</a:t>
            </a:r>
            <a:r>
              <a:rPr lang="en-US" altLang="zh-CN" dirty="0"/>
              <a:t> 5 </a:t>
            </a:r>
            <a:r>
              <a:rPr lang="zh-CN" altLang="en-US" dirty="0"/>
              <a:t>项主观感受量表（心理负荷、努力、挫败、无聊、疲劳）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③</a:t>
            </a:r>
            <a:r>
              <a:rPr lang="en-US" altLang="zh-CN" dirty="0"/>
              <a:t> </a:t>
            </a:r>
            <a:r>
              <a:rPr lang="zh-CN" altLang="en-US" dirty="0"/>
              <a:t>正式任务：完成</a:t>
            </a:r>
            <a:r>
              <a:rPr lang="en-US" altLang="zh-CN" dirty="0"/>
              <a:t> Stroop </a:t>
            </a:r>
            <a:r>
              <a:rPr lang="zh-CN" altLang="en-US" dirty="0"/>
              <a:t>色词任务（</a:t>
            </a:r>
            <a:r>
              <a:rPr lang="en-US" altLang="zh-CN" dirty="0"/>
              <a:t>12 </a:t>
            </a:r>
            <a:r>
              <a:rPr lang="zh-CN" altLang="en-US" dirty="0"/>
              <a:t>个练习试次</a:t>
            </a:r>
            <a:r>
              <a:rPr lang="en-US" altLang="zh-CN" dirty="0"/>
              <a:t> + 180 </a:t>
            </a:r>
            <a:r>
              <a:rPr lang="zh-CN" altLang="en-US" dirty="0"/>
              <a:t>个正式试次）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间隔期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线下被试：固定每周同一天、同一时段参与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线上被试：间隔</a:t>
            </a:r>
            <a:r>
              <a:rPr lang="en-US" altLang="zh-CN" dirty="0"/>
              <a:t> 7~12 </a:t>
            </a:r>
            <a:r>
              <a:rPr lang="zh-CN" altLang="en-US" dirty="0"/>
              <a:t>天，不限时间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第二阶段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完成另一项未做过的操纵任务，后续流程与第一阶段完全一致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6254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696720" y="180975"/>
            <a:ext cx="9018270" cy="718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数据分析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18" name="组合 17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4" name="图片 3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452120" y="1228725"/>
            <a:ext cx="11309350" cy="5060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隶书" panose="02010800040101010101" charset="-122"/>
                <a:ea typeface="华文隶书" panose="02010800040101010101" charset="-122"/>
              </a:rPr>
              <a:t>数据预处理（四项实验统一标准）</a:t>
            </a:r>
            <a:endParaRPr lang="zh-CN" altLang="en-US" sz="2000" dirty="0">
              <a:latin typeface="华文隶书" panose="02010800040101010101" charset="-122"/>
              <a:ea typeface="华文隶书" panose="02010800040101010101" charset="-122"/>
            </a:endParaRPr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被试筛选：</a:t>
            </a:r>
            <a:r>
              <a:rPr lang="zh-CN" altLang="en-US" dirty="0"/>
              <a:t>剔除高需求符号计数任务正确率＜</a:t>
            </a:r>
            <a:r>
              <a:rPr lang="en-US" altLang="zh-CN" dirty="0"/>
              <a:t>20% </a:t>
            </a:r>
            <a:r>
              <a:rPr lang="zh-CN" altLang="en-US" dirty="0"/>
              <a:t>的被试、</a:t>
            </a:r>
            <a:r>
              <a:rPr lang="en-US" altLang="zh-CN" dirty="0"/>
              <a:t>Stroop </a:t>
            </a:r>
            <a:r>
              <a:rPr lang="zh-CN" altLang="en-US" dirty="0"/>
              <a:t>一致试次错误率过高的被试。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试次筛选：</a:t>
            </a:r>
            <a:r>
              <a:rPr lang="zh-CN" altLang="en-US" dirty="0"/>
              <a:t>剔除反应时＜</a:t>
            </a:r>
            <a:r>
              <a:rPr lang="en-US" altLang="zh-CN" dirty="0"/>
              <a:t>250ms </a:t>
            </a:r>
            <a:r>
              <a:rPr lang="zh-CN" altLang="en-US" dirty="0"/>
              <a:t>的试次；采用中位数绝对偏差法</a:t>
            </a:r>
            <a:r>
              <a:rPr lang="en-US" altLang="zh-CN" dirty="0"/>
              <a:t> (MAD)</a:t>
            </a:r>
            <a:r>
              <a:rPr lang="zh-CN" altLang="en-US" dirty="0"/>
              <a:t>剔除反应时极端值，摒弃传统</a:t>
            </a:r>
            <a:r>
              <a:rPr lang="en-US" altLang="zh-CN" dirty="0"/>
              <a:t> </a:t>
            </a:r>
            <a:r>
              <a:rPr lang="en-US" altLang="en-US" dirty="0"/>
              <a:t>±</a:t>
            </a:r>
            <a:r>
              <a:rPr lang="en-US" altLang="zh-CN" dirty="0"/>
              <a:t>3 </a:t>
            </a:r>
            <a:r>
              <a:rPr lang="zh-CN" altLang="en-US" dirty="0"/>
              <a:t>倍标准差法。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隶书" panose="02010800040101010101" charset="-122"/>
                <a:ea typeface="华文隶书" panose="02010800040101010101" charset="-122"/>
              </a:rPr>
              <a:t>核心认知建模</a:t>
            </a:r>
            <a:endParaRPr lang="zh-CN" altLang="en-US" sz="2000" dirty="0">
              <a:latin typeface="华文隶书" panose="02010800040101010101" charset="-122"/>
              <a:ea typeface="华文隶书" panose="02010800040101010101" charset="-122"/>
            </a:endParaRPr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主模型：</a:t>
            </a:r>
            <a:r>
              <a:rPr lang="en-US" altLang="zh-CN" dirty="0"/>
              <a:t>EZ - </a:t>
            </a:r>
            <a:r>
              <a:rPr lang="zh-CN" altLang="en-US" dirty="0"/>
              <a:t>漂移</a:t>
            </a:r>
            <a:r>
              <a:rPr lang="en-US" altLang="zh-CN" dirty="0"/>
              <a:t> - </a:t>
            </a:r>
            <a:r>
              <a:rPr lang="zh-CN" altLang="en-US" dirty="0"/>
              <a:t>扩散模型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提取三大潜变量：边界参数（反应谨慎性）、漂移率（信息加工速度）、非决策时间。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交叉验证模型：</a:t>
            </a:r>
            <a:r>
              <a:rPr lang="zh-CN" altLang="en-US" dirty="0"/>
              <a:t>冲突任务专用扩散模型，针对</a:t>
            </a:r>
            <a:r>
              <a:rPr lang="en-US" altLang="zh-CN" dirty="0"/>
              <a:t> Stroop </a:t>
            </a:r>
            <a:r>
              <a:rPr lang="zh-CN" altLang="en-US" dirty="0"/>
              <a:t>冲突任务优化，校验结果可靠性。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隶书" panose="02010800040101010101" charset="-122"/>
                <a:ea typeface="华文隶书" panose="02010800040101010101" charset="-122"/>
              </a:rPr>
              <a:t>统计分析框架（贝叶斯统计）</a:t>
            </a:r>
            <a:endParaRPr lang="zh-CN" altLang="en-US" sz="2000" dirty="0">
              <a:latin typeface="华文隶书" panose="02010800040101010101" charset="-122"/>
              <a:ea typeface="华文隶书" panose="02010800040101010101" charset="-122"/>
            </a:endParaRPr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分析工具：</a:t>
            </a:r>
            <a:r>
              <a:rPr lang="zh-CN" altLang="en-US" dirty="0"/>
              <a:t>基于</a:t>
            </a:r>
            <a:r>
              <a:rPr lang="en-US" altLang="zh-CN" dirty="0"/>
              <a:t> R </a:t>
            </a:r>
            <a:r>
              <a:rPr lang="zh-CN" altLang="en-US" dirty="0"/>
              <a:t>语言</a:t>
            </a:r>
            <a:r>
              <a:rPr lang="en-US" altLang="zh-CN" dirty="0"/>
              <a:t>brms</a:t>
            </a:r>
            <a:r>
              <a:rPr lang="zh-CN" altLang="en-US" dirty="0"/>
              <a:t>包构建贝叶斯多层模型。</a:t>
            </a:r>
            <a:endParaRPr lang="zh-CN" altLang="en-US" dirty="0"/>
          </a:p>
          <a:p>
            <a:pPr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b="1" dirty="0"/>
              <a:t>分层模型设计</a:t>
            </a:r>
            <a:endParaRPr lang="zh-CN" altLang="en-US" b="1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单实验：两层模型（试次嵌套于被试）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整合分析：三层元分析模型（试次</a:t>
            </a:r>
            <a:r>
              <a:rPr lang="en-US" altLang="en-US" dirty="0"/>
              <a:t>→</a:t>
            </a:r>
            <a:r>
              <a:rPr lang="zh-CN" altLang="en-US" dirty="0"/>
              <a:t>被试</a:t>
            </a:r>
            <a:r>
              <a:rPr lang="en-US" altLang="en-US" dirty="0"/>
              <a:t>→</a:t>
            </a:r>
            <a:r>
              <a:rPr lang="zh-CN" altLang="en-US" dirty="0"/>
              <a:t>实验）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模型设置：</a:t>
            </a:r>
            <a:r>
              <a:rPr lang="zh-CN" altLang="en-US" dirty="0"/>
              <a:t>连续变量均值中心化，分类变量重新编码。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6254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696720" y="180975"/>
            <a:ext cx="9018270" cy="718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数据分析</a:t>
            </a:r>
            <a:endParaRPr lang="zh-CN" altLang="en-US" sz="3200" b="1" dirty="0">
              <a:solidFill>
                <a:srgbClr val="497568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18" name="组合 17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4" name="图片 3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452120" y="1228725"/>
            <a:ext cx="11309350" cy="5060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隶书" panose="02010800040101010101" charset="-122"/>
                <a:ea typeface="华文隶书" panose="02010800040101010101" charset="-122"/>
                <a:sym typeface="+mn-ea"/>
              </a:rPr>
              <a:t>先验分布与抽样设置</a:t>
            </a:r>
            <a:endParaRPr lang="zh-CN" altLang="en-US" sz="2000" dirty="0">
              <a:latin typeface="华文隶书" panose="02010800040101010101" charset="-122"/>
              <a:ea typeface="华文隶书" panose="02010800040101010101" charset="-122"/>
            </a:endParaRPr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+mn-ea"/>
              </a:rPr>
              <a:t>先验选择：</a:t>
            </a:r>
            <a:r>
              <a:rPr lang="zh-CN" altLang="en-US" dirty="0">
                <a:sym typeface="+mn-ea"/>
              </a:rPr>
              <a:t>核心效应采用知情高斯先验（基于过往自我损耗研究，预设</a:t>
            </a:r>
            <a:r>
              <a:rPr lang="en-US" altLang="zh-CN" dirty="0">
                <a:sym typeface="+mn-ea"/>
              </a:rPr>
              <a:t>d=0.28, SD=0.14</a:t>
            </a:r>
            <a:r>
              <a:rPr lang="zh-CN" altLang="en-US" dirty="0">
                <a:sym typeface="+mn-ea"/>
              </a:rPr>
              <a:t>）；其余效应使用标准正态先验</a:t>
            </a:r>
            <a:r>
              <a:rPr lang="en-US" altLang="zh-CN" dirty="0">
                <a:sym typeface="+mn-ea"/>
              </a:rPr>
              <a:t> N(0,1)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+mn-ea"/>
              </a:rPr>
              <a:t>敏感性分析：</a:t>
            </a:r>
            <a:r>
              <a:rPr lang="zh-CN" altLang="en-US" dirty="0">
                <a:sym typeface="+mn-ea"/>
              </a:rPr>
              <a:t>更换零中心先验重复分析，检验结果稳健性。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+mn-ea"/>
              </a:rPr>
              <a:t>MCMC 抽样：</a:t>
            </a:r>
            <a:r>
              <a:rPr lang="en-US" altLang="zh-CN" dirty="0">
                <a:sym typeface="+mn-ea"/>
              </a:rPr>
              <a:t>20 </a:t>
            </a:r>
            <a:r>
              <a:rPr lang="zh-CN" altLang="en-US" dirty="0">
                <a:sym typeface="+mn-ea"/>
              </a:rPr>
              <a:t>条马尔可夫链，每条采样</a:t>
            </a:r>
            <a:r>
              <a:rPr lang="en-US" altLang="zh-CN" dirty="0">
                <a:sym typeface="+mn-ea"/>
              </a:rPr>
              <a:t> 2000 </a:t>
            </a:r>
            <a:r>
              <a:rPr lang="zh-CN" altLang="en-US" dirty="0">
                <a:sym typeface="+mn-ea"/>
              </a:rPr>
              <a:t>个样本，前</a:t>
            </a:r>
            <a:r>
              <a:rPr lang="en-US" altLang="zh-CN" dirty="0">
                <a:sym typeface="+mn-ea"/>
              </a:rPr>
              <a:t> 1000 </a:t>
            </a:r>
            <a:r>
              <a:rPr lang="zh-CN" altLang="en-US" dirty="0">
                <a:sym typeface="+mn-ea"/>
              </a:rPr>
              <a:t>个作为预热样本舍弃。</a:t>
            </a:r>
            <a:endParaRPr lang="zh-CN" altLang="en-US" dirty="0">
              <a:sym typeface="+mn-ea"/>
            </a:endParaRPr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dirty="0"/>
          </a:p>
          <a:p>
            <a:pPr marL="285750" indent="-285750" algn="just">
              <a:lnSpc>
                <a:spcPct val="125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华文隶书" panose="02010800040101010101" charset="-122"/>
                <a:ea typeface="华文隶书" panose="02010800040101010101" charset="-122"/>
                <a:sym typeface="+mn-ea"/>
              </a:rPr>
              <a:t>结果判定指标</a:t>
            </a:r>
            <a:endParaRPr lang="zh-CN" altLang="en-US" sz="2000" dirty="0">
              <a:latin typeface="华文隶书" panose="02010800040101010101" charset="-122"/>
              <a:ea typeface="华文隶书" panose="02010800040101010101" charset="-122"/>
              <a:sym typeface="+mn-ea"/>
            </a:endParaRPr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+mn-ea"/>
              </a:rPr>
              <a:t>核心输出：</a:t>
            </a:r>
            <a:r>
              <a:rPr lang="zh-CN" altLang="en-US" dirty="0">
                <a:sym typeface="+mn-ea"/>
              </a:rPr>
              <a:t>后验分布均值、</a:t>
            </a:r>
            <a:r>
              <a:rPr lang="en-US" altLang="zh-CN" dirty="0">
                <a:sym typeface="+mn-ea"/>
              </a:rPr>
              <a:t>95% </a:t>
            </a:r>
            <a:r>
              <a:rPr lang="zh-CN" altLang="en-US" dirty="0">
                <a:sym typeface="+mn-ea"/>
              </a:rPr>
              <a:t>最高后验密度区间</a:t>
            </a:r>
            <a:r>
              <a:rPr lang="en-US" altLang="zh-CN" dirty="0">
                <a:sym typeface="+mn-ea"/>
              </a:rPr>
              <a:t> (95% HPD)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+mn-ea"/>
              </a:rPr>
              <a:t>效应证据：</a:t>
            </a:r>
            <a:r>
              <a:rPr lang="zh-CN" altLang="en-US" dirty="0">
                <a:sym typeface="+mn-ea"/>
              </a:rPr>
              <a:t>采用桥抽样法计算贝叶斯因子</a:t>
            </a:r>
            <a:r>
              <a:rPr lang="en-US" altLang="zh-CN" dirty="0">
                <a:sym typeface="+mn-ea"/>
              </a:rPr>
              <a:t> (BF)</a:t>
            </a:r>
            <a:r>
              <a:rPr lang="zh-CN" altLang="en-US" dirty="0">
                <a:sym typeface="+mn-ea"/>
              </a:rPr>
              <a:t>，区分支持实验假设</a:t>
            </a:r>
            <a:r>
              <a:rPr lang="en-US" altLang="zh-CN" dirty="0">
                <a:sym typeface="+mn-ea"/>
              </a:rPr>
              <a:t> / </a:t>
            </a:r>
            <a:r>
              <a:rPr lang="zh-CN" altLang="en-US" dirty="0">
                <a:sym typeface="+mn-ea"/>
              </a:rPr>
              <a:t>零假设。</a:t>
            </a:r>
            <a:endParaRPr lang="zh-CN" altLang="en-US" dirty="0"/>
          </a:p>
          <a:p>
            <a:pPr indent="0"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+mn-ea"/>
              </a:rPr>
              <a:t>效应量：</a:t>
            </a:r>
            <a:r>
              <a:rPr lang="zh-CN" altLang="en-US" dirty="0">
                <a:sym typeface="+mn-ea"/>
              </a:rPr>
              <a:t>报告</a:t>
            </a:r>
            <a:r>
              <a:rPr lang="en-US" altLang="zh-CN" dirty="0">
                <a:sym typeface="+mn-ea"/>
              </a:rPr>
              <a:t> Cohen's d</a:t>
            </a:r>
            <a:r>
              <a:rPr lang="zh-CN" altLang="en-US" dirty="0">
                <a:sym typeface="+mn-ea"/>
              </a:rPr>
              <a:t>，判断效应大小。</a:t>
            </a:r>
            <a:endParaRPr lang="zh-CN" altLang="en-US" dirty="0"/>
          </a:p>
          <a:p>
            <a:pPr marL="285750" indent="-28575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结论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90525" y="1315720"/>
            <a:ext cx="10851515" cy="4182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>
                <a:latin typeface="华文隶书" panose="02010800040101010101" charset="-122"/>
                <a:ea typeface="华文隶书" panose="02010800040101010101" charset="-122"/>
              </a:rPr>
              <a:t>操纵有效性检验</a:t>
            </a:r>
            <a:endParaRPr lang="zh-CN" altLang="en-US" sz="2400">
              <a:latin typeface="华文隶书" panose="02010800040101010101" charset="-122"/>
              <a:ea typeface="华文隶书" panose="02010800040101010101" charset="-122"/>
            </a:endParaRPr>
          </a:p>
          <a:p>
            <a:r>
              <a:rPr lang="zh-CN" altLang="en-US" sz="2000"/>
              <a:t>四项实验结果高度一致：高需求任务组在心理负荷、付出努力、挫败感、无聊感、疲惫感五项主观评分上，均显著高于低需求组（所有贝叶斯因子</a:t>
            </a:r>
            <a:r>
              <a:rPr lang="en-US" altLang="zh-CN" sz="2000"/>
              <a:t> BF</a:t>
            </a:r>
            <a:r>
              <a:rPr lang="zh-CN" altLang="en-US" sz="2000"/>
              <a:t>＞</a:t>
            </a:r>
            <a:r>
              <a:rPr lang="en-US" altLang="zh-CN" sz="2000"/>
              <a:t>500</a:t>
            </a:r>
            <a:r>
              <a:rPr lang="zh-CN" altLang="en-US" sz="2000"/>
              <a:t>）。</a:t>
            </a:r>
            <a:endParaRPr lang="zh-CN" altLang="en-US" sz="2000"/>
          </a:p>
          <a:p>
            <a:r>
              <a:rPr lang="zh-CN" altLang="en-US" sz="2000"/>
              <a:t>结论：</a:t>
            </a:r>
            <a:r>
              <a:rPr lang="zh-CN" altLang="en-US" sz="2000"/>
              <a:t>高负荷任务可稳定诱发高强度认知努力与疲劳体验，实验操纵有效。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latin typeface="华文隶书" panose="02010800040101010101" charset="-122"/>
                <a:ea typeface="华文隶书" panose="02010800040101010101" charset="-122"/>
              </a:rPr>
              <a:t>漂移 - 扩散模型核心指标</a:t>
            </a:r>
            <a:endParaRPr lang="zh-CN" altLang="en-US" sz="2400">
              <a:latin typeface="华文隶书" panose="02010800040101010101" charset="-122"/>
              <a:ea typeface="华文隶书" panose="02010800040101010101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000"/>
              <a:t>以贝叶斯元分析整合四项实验数据：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边界参数（反应谨慎性）：高需求任务后参数显著降低（b=-0.004，BF=29.10，d=-0.15），说明认知努力会降低个体反应谨慎性；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漂移率（信息加工速度）：组间无显著差异（BF=0.06，支持零假设），说明认知努力不会影响信息加工速度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结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论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210820" y="1313815"/>
            <a:ext cx="11720195" cy="568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latin typeface="华文隶书" panose="02010800040101010101" charset="-122"/>
                <a:ea typeface="华文隶书" panose="02010800040101010101" charset="-122"/>
              </a:rPr>
              <a:t>主观体验与模型参数的关联</a:t>
            </a:r>
            <a:endParaRPr lang="zh-CN" altLang="en-US" sz="2400">
              <a:latin typeface="华文隶书" panose="02010800040101010101" charset="-122"/>
              <a:ea typeface="华文隶书" panose="02010800040101010101" charset="-122"/>
            </a:endParaRPr>
          </a:p>
          <a:p>
            <a:r>
              <a:rPr lang="zh-CN" altLang="en-US" sz="2000"/>
              <a:t>主观心理负荷、努力感越强，边界参数越低，二者呈显著负相关；</a:t>
            </a:r>
            <a:endParaRPr lang="zh-CN" altLang="en-US" sz="2000"/>
          </a:p>
          <a:p>
            <a:r>
              <a:rPr lang="zh-CN" altLang="en-US" sz="2000"/>
              <a:t>疲劳、挫败、无聊感与模型参数无稳定、显著的关联；</a:t>
            </a:r>
            <a:endParaRPr lang="zh-CN" altLang="en-US" sz="2000"/>
          </a:p>
          <a:p>
            <a:r>
              <a:rPr lang="zh-CN" altLang="en-US" sz="2000"/>
              <a:t>所有主观体验指标均不影响漂移率。</a:t>
            </a:r>
            <a:endParaRPr lang="zh-CN" altLang="en-US" sz="2000"/>
          </a:p>
          <a:p>
            <a:endParaRPr lang="zh-CN" altLang="en-US" sz="2000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latin typeface="华文隶书" panose="02010800040101010101" charset="-122"/>
                <a:ea typeface="华文隶书" panose="02010800040101010101" charset="-122"/>
              </a:rPr>
              <a:t> Stroop 传统行为指标</a:t>
            </a:r>
            <a:endParaRPr lang="zh-CN" altLang="en-US" sz="2400">
              <a:latin typeface="华文隶书" panose="02010800040101010101" charset="-122"/>
              <a:ea typeface="华文隶书" panose="02010800040101010101" charset="-122"/>
            </a:endParaRPr>
          </a:p>
          <a:p>
            <a:r>
              <a:rPr lang="zh-CN" altLang="en-US" sz="2000"/>
              <a:t>正确率：高需求组正确率小幅下降，效应微弱；试次冲突主效应显著（不一致试次正确率更低），无交互作用；</a:t>
            </a:r>
            <a:endParaRPr lang="zh-CN" altLang="en-US" sz="2000"/>
          </a:p>
          <a:p>
            <a:r>
              <a:rPr lang="zh-CN" altLang="en-US" sz="2000"/>
              <a:t>反应时：高需求组反应时略快，与</a:t>
            </a:r>
            <a:r>
              <a:rPr lang="en-US" altLang="zh-CN" sz="2000"/>
              <a:t> “</a:t>
            </a:r>
            <a:r>
              <a:rPr lang="zh-CN" altLang="en-US" sz="2000"/>
              <a:t>反应谨慎性下降</a:t>
            </a:r>
            <a:r>
              <a:rPr lang="en-US" altLang="zh-CN" sz="2000"/>
              <a:t>” </a:t>
            </a:r>
            <a:r>
              <a:rPr lang="zh-CN" altLang="en-US" sz="2000"/>
              <a:t>的模型结论相互印证；冲突主效应显著，无交互作用。</a:t>
            </a:r>
            <a:endParaRPr lang="zh-CN" altLang="en-US" sz="2000"/>
          </a:p>
          <a:p>
            <a:endParaRPr lang="zh-CN" altLang="en-US" sz="2000"/>
          </a:p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latin typeface="华文隶书" panose="02010800040101010101" charset="-122"/>
                <a:ea typeface="华文隶书" panose="02010800040101010101" charset="-122"/>
              </a:rPr>
              <a:t>补充验证与额外发现</a:t>
            </a:r>
            <a:endParaRPr lang="zh-CN" altLang="en-US" sz="2400">
              <a:latin typeface="华文隶书" panose="02010800040101010101" charset="-122"/>
              <a:ea typeface="华文隶书" panose="02010800040101010101" charset="-122"/>
            </a:endParaRPr>
          </a:p>
          <a:p>
            <a:r>
              <a:rPr lang="zh-CN" altLang="en-US" sz="2000"/>
              <a:t>采用冲突任务专用扩散模型交叉验证，结论与</a:t>
            </a:r>
            <a:r>
              <a:rPr lang="en-US" altLang="zh-CN" sz="2000"/>
              <a:t> EZ - </a:t>
            </a:r>
            <a:r>
              <a:rPr lang="zh-CN" altLang="en-US" sz="2000"/>
              <a:t>扩散模型完全一致；</a:t>
            </a:r>
            <a:endParaRPr lang="zh-CN" altLang="en-US" sz="2000"/>
          </a:p>
          <a:p>
            <a:r>
              <a:rPr lang="zh-CN" altLang="en-US" sz="2000"/>
              <a:t>实验存在明显练习效应（第二阶段任务表现更好），但任务顺序与实验操纵无交互，核心结果稳定。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210820" y="1313815"/>
            <a:ext cx="11720195" cy="4022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ClrTx/>
              <a:buSzTx/>
              <a:buFont typeface="Wingdings" panose="05000000000000000000" charset="0"/>
              <a:buChar char="Ø"/>
            </a:pP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5" y="1313815"/>
            <a:ext cx="11349355" cy="4575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" y="6077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数据无任何</a:t>
            </a:r>
            <a:r>
              <a:rPr lang="zh-CN" altLang="en-US"/>
              <a:t>改动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r>
              <a:rPr lang="en-US" altLang="zh-CN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代码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改动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1810" t="3823" r="467" b="4755"/>
          <a:stretch>
            <a:fillRect/>
          </a:stretch>
        </p:blipFill>
        <p:spPr>
          <a:xfrm>
            <a:off x="498475" y="1625600"/>
            <a:ext cx="5314950" cy="29375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2120" y="4676140"/>
            <a:ext cx="526288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原代码是分散式脚本架构，不同效应分在不同文件</a:t>
            </a:r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5989320" y="2951480"/>
            <a:ext cx="1026160" cy="7620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480" y="1552575"/>
            <a:ext cx="4762500" cy="30099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654165" y="4676140"/>
            <a:ext cx="527685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合并为单一</a:t>
            </a:r>
            <a:r>
              <a:rPr lang="en-US" altLang="zh-CN"/>
              <a:t> R Markdown </a:t>
            </a:r>
            <a:r>
              <a:rPr lang="zh-CN" altLang="en-US"/>
              <a:t>报告，按逻辑顺序组织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r>
              <a:rPr lang="en-US" altLang="zh-CN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新增部分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47345" y="1243330"/>
            <a:ext cx="10299700" cy="4080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2400"/>
              <a:t>描述统计表：按</a:t>
            </a:r>
            <a:r>
              <a:rPr lang="en-US" altLang="zh-CN" sz="2400"/>
              <a:t> condition </a:t>
            </a:r>
            <a:r>
              <a:rPr lang="en-US" altLang="en-US" sz="2400"/>
              <a:t>×</a:t>
            </a:r>
            <a:r>
              <a:rPr lang="en-US" altLang="zh-CN" sz="2400"/>
              <a:t> congruency </a:t>
            </a:r>
            <a:r>
              <a:rPr lang="zh-CN" altLang="en-US" sz="2400"/>
              <a:t>汇总人均</a:t>
            </a:r>
            <a:r>
              <a:rPr lang="en-US" altLang="zh-CN" sz="2400"/>
              <a:t> RT/ACC</a:t>
            </a:r>
            <a:r>
              <a:rPr lang="zh-CN" altLang="en-US" sz="2400"/>
              <a:t>，</a:t>
            </a:r>
            <a:r>
              <a:rPr lang="en-US" altLang="zh-CN" sz="2400"/>
              <a:t>DDM </a:t>
            </a:r>
            <a:r>
              <a:rPr lang="zh-CN" altLang="en-US" sz="2400"/>
              <a:t>参数按</a:t>
            </a:r>
            <a:r>
              <a:rPr lang="en-US" altLang="zh-CN" sz="2400"/>
              <a:t> condition </a:t>
            </a:r>
            <a:r>
              <a:rPr lang="zh-CN" altLang="en-US" sz="2400"/>
              <a:t>汇总</a:t>
            </a:r>
            <a:endParaRPr lang="zh-CN" altLang="en-US" sz="2400"/>
          </a:p>
          <a:p>
            <a:pPr marL="342900" indent="-342900">
              <a:buFont typeface="Wingdings" panose="05000000000000000000" charset="0"/>
              <a:buChar char="ü"/>
            </a:pPr>
            <a:endParaRPr lang="zh-CN" altLang="en-US" sz="240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2400"/>
              <a:t>后验分布联合可视化：</a:t>
            </a:r>
            <a:r>
              <a:rPr lang="en-US" altLang="zh-CN" sz="2400"/>
              <a:t>RT/ACC/DDM a/DDM v </a:t>
            </a:r>
            <a:r>
              <a:rPr lang="zh-CN" altLang="en-US" sz="2400"/>
              <a:t>四个效应画在同一张图</a:t>
            </a:r>
            <a:endParaRPr lang="zh-CN" altLang="en-US" sz="2400"/>
          </a:p>
          <a:p>
            <a:pPr marL="342900" indent="-342900">
              <a:buFont typeface="Wingdings" panose="05000000000000000000" charset="0"/>
              <a:buChar char="ü"/>
            </a:pPr>
            <a:endParaRPr lang="zh-CN" altLang="en-US" sz="240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2400"/>
              <a:t>效应编码</a:t>
            </a:r>
            <a:r>
              <a:rPr lang="en-US" altLang="zh-CN" sz="2400"/>
              <a:t> + </a:t>
            </a:r>
            <a:r>
              <a:rPr lang="zh-CN" altLang="en-US" sz="2400"/>
              <a:t>交互项合并到同一公式：</a:t>
            </a:r>
            <a:r>
              <a:rPr lang="en-US" altLang="zh-CN" sz="2400"/>
              <a:t>rtCorrect ~ conditionEC * congruentEC + (1 | pNo) </a:t>
            </a:r>
            <a:r>
              <a:rPr lang="zh-CN" altLang="en-US" sz="2400"/>
              <a:t>一次性输出三个效应（原代码用</a:t>
            </a:r>
            <a:r>
              <a:rPr lang="en-US" altLang="zh-CN" sz="2400"/>
              <a:t> *_interact.R </a:t>
            </a:r>
            <a:r>
              <a:rPr lang="zh-CN" altLang="en-US" sz="2400"/>
              <a:t>单独跑交互）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r>
              <a:rPr lang="en-US" altLang="zh-CN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对比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15" y="1875790"/>
            <a:ext cx="6256655" cy="24523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80415" y="14274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操纵有效性检验</a:t>
            </a:r>
            <a:endParaRPr lang="zh-CN" altLang="en-US" sz="20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5167630"/>
            <a:ext cx="8648700" cy="14649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80415" y="46710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stroop</a:t>
            </a:r>
            <a:r>
              <a:rPr lang="zh-CN" altLang="en-US" sz="2000" b="1"/>
              <a:t>正确率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r>
              <a:rPr lang="en-US" altLang="zh-CN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对比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701675" y="11322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stroop</a:t>
            </a:r>
            <a:r>
              <a:rPr lang="zh-CN" altLang="en-US" sz="2000" b="1"/>
              <a:t>反应时</a:t>
            </a:r>
            <a:endParaRPr lang="zh-CN" altLang="en-US" sz="20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15" y="1438910"/>
            <a:ext cx="9972675" cy="16065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5" y="3561080"/>
            <a:ext cx="9392920" cy="16224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80415" y="31623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DDM  a</a:t>
            </a:r>
            <a:endParaRPr lang="en-US" altLang="zh-CN" sz="2000" b="1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" y="5448935"/>
            <a:ext cx="8267700" cy="13049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01675" y="519239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DDM v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r>
              <a:rPr lang="en-US" altLang="zh-CN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对比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780415" y="12166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主观指标</a:t>
            </a:r>
            <a:r>
              <a:rPr lang="en-US" altLang="zh-CN" sz="2000" b="1"/>
              <a:t>-</a:t>
            </a:r>
            <a:r>
              <a:rPr lang="zh-CN" altLang="en-US" sz="2000" b="1"/>
              <a:t>决策边界</a:t>
            </a:r>
            <a:r>
              <a:rPr lang="en-US" altLang="zh-CN" sz="2000" b="1"/>
              <a:t>a</a:t>
            </a:r>
            <a:endParaRPr lang="en-US" altLang="zh-CN" sz="20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" y="1615440"/>
            <a:ext cx="9191625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785600" y="900000"/>
            <a:ext cx="10417810" cy="0"/>
          </a:xfrm>
          <a:prstGeom prst="line">
            <a:avLst/>
          </a:prstGeom>
          <a:ln w="15875">
            <a:solidFill>
              <a:srgbClr val="49756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785430" y="316525"/>
            <a:ext cx="87423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复现</a:t>
            </a:r>
            <a:r>
              <a:rPr lang="en-US" altLang="zh-CN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——</a:t>
            </a:r>
            <a:r>
              <a:rPr lang="zh-CN" altLang="en-US" sz="3200" b="1" dirty="0">
                <a:solidFill>
                  <a:srgbClr val="497568"/>
                </a:solidFill>
                <a:latin typeface="+mj-lt"/>
                <a:ea typeface="思源宋体 CN SemiBold" panose="02020600000000000000" pitchFamily="18" charset="-122"/>
                <a:cs typeface="思源黑体 CN Medium" panose="020B0600000000000000" pitchFamily="34" charset="-122"/>
              </a:rPr>
              <a:t>对比</a:t>
            </a:r>
            <a:endParaRPr lang="zh-CN" altLang="en-US" sz="3200" b="1" dirty="0">
              <a:solidFill>
                <a:srgbClr val="497568"/>
              </a:solidFill>
              <a:latin typeface="+mj-lt"/>
              <a:ea typeface="思源宋体 CN SemiBold" panose="02020600000000000000" pitchFamily="18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930743" y="0"/>
            <a:ext cx="261257" cy="900000"/>
          </a:xfrm>
          <a:prstGeom prst="rect">
            <a:avLst/>
          </a:prstGeom>
          <a:solidFill>
            <a:srgbClr val="4975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Medium" panose="020B06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756" y="76916"/>
            <a:ext cx="1048288" cy="1048288"/>
            <a:chOff x="347756" y="76916"/>
            <a:chExt cx="1048288" cy="1048288"/>
          </a:xfrm>
        </p:grpSpPr>
        <p:grpSp>
          <p:nvGrpSpPr>
            <p:cNvPr id="4" name="组合 3"/>
            <p:cNvGrpSpPr/>
            <p:nvPr/>
          </p:nvGrpSpPr>
          <p:grpSpPr>
            <a:xfrm>
              <a:off x="347756" y="76916"/>
              <a:ext cx="1048288" cy="1048288"/>
              <a:chOff x="462056" y="98688"/>
              <a:chExt cx="1048288" cy="10482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62056" y="98688"/>
                <a:ext cx="1048288" cy="10482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381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05045" y="141677"/>
                <a:ext cx="962310" cy="962310"/>
              </a:xfrm>
              <a:prstGeom prst="ellipse">
                <a:avLst/>
              </a:prstGeom>
              <a:noFill/>
              <a:ln>
                <a:solidFill>
                  <a:srgbClr val="4975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565992" y="202624"/>
                <a:ext cx="840416" cy="8404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pic>
          <p:nvPicPr>
            <p:cNvPr id="8" name="图片 7" descr="校徽+南京师范大学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843" t="30087" r="75740" b="37037"/>
            <a:stretch>
              <a:fillRect/>
            </a:stretch>
          </p:blipFill>
          <p:spPr>
            <a:xfrm>
              <a:off x="498443" y="165784"/>
              <a:ext cx="764603" cy="870552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780415" y="12166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主观指标</a:t>
            </a:r>
            <a:r>
              <a:rPr lang="en-US" altLang="zh-CN" sz="2000" b="1"/>
              <a:t>-v</a:t>
            </a:r>
            <a:endParaRPr lang="en-US" altLang="zh-CN" sz="20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" y="1615440"/>
            <a:ext cx="9191625" cy="50577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2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3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4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5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6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7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8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9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10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11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12.xml><?xml version="1.0" encoding="utf-8"?>
<p:tagLst xmlns:p="http://schemas.openxmlformats.org/presentationml/2006/main">
  <p:tag name="KSO_WM_DIAGRAM_VIRTUALLY_FRAME" val="{&quot;height&quot;:340,&quot;left&quot;:109.15,&quot;top&quot;:124.2,&quot;width&quot;:720}"/>
</p:tagLst>
</file>

<file path=ppt/tags/tag13.xml><?xml version="1.0" encoding="utf-8"?>
<p:tagLst xmlns:p="http://schemas.openxmlformats.org/presentationml/2006/main">
  <p:tag name="COMMONDATA" val="eyJjb3VudCI6MTY2LCJoZGlkIjoiMWM4NjlhYmE4MWE1NWZiZTBlMGY5ZTM5YTNkNWUzZjYiLCJ1c2VyQ291bnQiOjE2Nn0="/>
  <p:tag name="RESOURCE_RECORD_KEY" val="{&quot;10&quot;:[2154835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学术">
      <a:majorFont>
        <a:latin typeface="Times New Roman"/>
        <a:ea typeface="思源黑体 CN Light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思源黑体 CN Light"/>
        <a:font script="Hebr" typeface="思源黑体 CN Light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思源黑体 CN Light"/>
        <a:font script="Hebr" typeface="思源黑体 CN Light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3076</Words>
  <Application>WPS 演示</Application>
  <PresentationFormat>宽屏</PresentationFormat>
  <Paragraphs>186</Paragraphs>
  <Slides>17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思源黑体 CN Light</vt:lpstr>
      <vt:lpstr>黑体</vt:lpstr>
      <vt:lpstr>思源黑体 CN Medium</vt:lpstr>
      <vt:lpstr>思源宋体 CN SemiBold</vt:lpstr>
      <vt:lpstr>Times New Roman</vt:lpstr>
      <vt:lpstr>华文楷体</vt:lpstr>
      <vt:lpstr>Noto Serif SC</vt:lpstr>
      <vt:lpstr>Noto Sans SC</vt:lpstr>
      <vt:lpstr>华文仿宋</vt:lpstr>
      <vt:lpstr>Wingdings</vt:lpstr>
      <vt:lpstr>华文隶书</vt:lpstr>
      <vt:lpstr>Times New Roman</vt:lpstr>
      <vt:lpstr>等线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以乐 刘</dc:creator>
  <cp:lastModifiedBy>实木</cp:lastModifiedBy>
  <cp:revision>344</cp:revision>
  <dcterms:created xsi:type="dcterms:W3CDTF">2022-04-06T08:04:00Z</dcterms:created>
  <dcterms:modified xsi:type="dcterms:W3CDTF">2026-06-18T03:04:20Z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293C6C1D701A4C54BC886B1AF359D3D9_13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v1.0_mb_/L70Ojz2llG3pB+zGtEB6A==</vt:lpwstr>
  </property>
</Properties>
</file>